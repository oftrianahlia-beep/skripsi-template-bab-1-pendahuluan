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italic ns1:id="rIdFont18"/>
      <ns0:regular ns1:id="rIdFont19"/>
    </ns0:embeddedFont>
    <ns0:embeddedFont>
      <ns0:font typeface="Space Grotesk"/>
      <ns0:bold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222ee4f4-61db-4f27-b533-d1568463d4c4.fntdata" /><ns0:Relationship Id="rIdFont18" Type="http://schemas.openxmlformats.org/officeDocument/2006/relationships/font" Target="fonts/ca5b0ffa-026f-4893-8f10-9ff0a30b9fa3.fntdata" /><ns0:Relationship Id="rIdFont19" Type="http://schemas.openxmlformats.org/officeDocument/2006/relationships/font" Target="fonts/0937fc83-9a18-4ac3-8296-9350fa014275.fntdata" /><ns0:Relationship Id="rIdFont20" Type="http://schemas.openxmlformats.org/officeDocument/2006/relationships/font" Target="fonts/5aa16b0f-e1f9-43b5-a15b-e15a03ca6f5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494532"/>
            <a:ext cx="762000" cy="76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106167"/>
            <a:ext cx="7620000" cy="1257300"/>
          </a:xfrm>
          <a:prstGeom prst="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106167"/>
            <a:ext cx="38100" cy="1257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875532"/>
            <a:ext cx="9101137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F8FAFC"/>
                </a:solidFill>
                <a:latin typeface="Space Grotesk"/>
              </a:rPr>
              <a:t>Anatomi Latar Belakang 9 Paragraf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77492"/>
            <a:ext cx="11430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94A3B8"/>
                </a:solidFill>
                <a:latin typeface="Inter"/>
              </a:rPr>
              <a:t>Alur Logika: Konteks Makro, Gap, hingga Urgensi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4334767"/>
            <a:ext cx="8905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Inter"/>
              </a:rPr>
              <a:t>STUDI KASUS JUDUL: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4601467"/>
            <a:ext cx="72199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F8FAFC"/>
                </a:solidFill>
                <a:latin typeface="Inter"/>
              </a:rPr>
              <a:t>"Pengaruh AI Readiness dan Digital Financial Literacy terhadap Business Resilience pada Pelaku UMKM di Kabupaten Tulungagung"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76375"/>
            <a:ext cx="5181600" cy="4772025"/>
          </a:xfrm>
          <a:prstGeom prst="roundRect">
            <a:avLst>
              <a:gd name="adj" fmla="val 31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76375"/>
            <a:ext cx="5181600" cy="4772025"/>
          </a:xfrm>
          <a:prstGeom prst="roundRect">
            <a:avLst>
              <a:gd name="adj" fmla="val 319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6325" y="1790700"/>
            <a:ext cx="1219200" cy="3048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6325" y="3248025"/>
            <a:ext cx="45529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62725" y="1790700"/>
            <a:ext cx="1247775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62725" y="3248025"/>
            <a:ext cx="4552950" cy="9525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Konteks Makro &amp; Ekspektasi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5" y="1847850"/>
            <a:ext cx="1009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PARAGRAF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2247900"/>
            <a:ext cx="597574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Fenomena Umum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2695575"/>
            <a:ext cx="46482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Menjelaskan konteks besar penelitian dan tren global saat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486150"/>
            <a:ext cx="5691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CONTOH PENERAPAN: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752850"/>
            <a:ext cx="4648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Era disrupsi menuntut transformasi digital masif. Digitalisasi menjadi poros utama penggerak ekonomi global.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1847850"/>
            <a:ext cx="1038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Inter"/>
              </a:rPr>
              <a:t>PARAGRAF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2247900"/>
            <a:ext cx="56292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3A8A"/>
                </a:solidFill>
                <a:latin typeface="Space Grotesk"/>
              </a:rPr>
              <a:t>Kondisi Ideal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2695575"/>
            <a:ext cx="46482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82F6"/>
                </a:solidFill>
                <a:latin typeface="Inter"/>
              </a:rPr>
              <a:t>Tuntutan teori atau standar kebijakan yang seharusnya terjadi.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486150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D4ED8"/>
                </a:solidFill>
                <a:latin typeface="Inter"/>
              </a:rPr>
              <a:t>CONTOH PENERAPAN: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752850"/>
            <a:ext cx="4648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3A8A"/>
                </a:solidFill>
                <a:latin typeface="Inter"/>
              </a:rPr>
              <a:t>Secara teori, UMKM harus memiliki </a:t>
            </a:r>
            <a:r>
              <a:rPr b="0" sz="1350" i="1" u="none">
                <a:solidFill>
                  <a:srgbClr val="1E3A8A"/>
                </a:solidFill>
                <a:latin typeface="Inter"/>
              </a:rPr>
              <a:t>Business Resilience</a:t>
            </a:r>
            <a:r>
              <a:rPr b="0" sz="1350" i="0" u="none">
                <a:solidFill>
                  <a:srgbClr val="1E3A8A"/>
                </a:solidFill>
                <a:latin typeface="Inter"/>
              </a:rPr>
              <a:t> tinggi. Target nasional mengharuskan UMKM lincah beradaptasi.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76375"/>
            <a:ext cx="5181600" cy="4772025"/>
          </a:xfrm>
          <a:prstGeom prst="roundRect">
            <a:avLst>
              <a:gd name="adj" fmla="val 3193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76375"/>
            <a:ext cx="5181600" cy="4772025"/>
          </a:xfrm>
          <a:prstGeom prst="roundRect">
            <a:avLst>
              <a:gd name="adj" fmla="val 319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6325" y="1790700"/>
            <a:ext cx="1247775" cy="3048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6325" y="3248025"/>
            <a:ext cx="4552950" cy="9525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62725" y="1790700"/>
            <a:ext cx="1257300" cy="3048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62725" y="3248025"/>
            <a:ext cx="4552950" cy="9525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Realita &amp; Kesenjangan (Masalah)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5" y="1847850"/>
            <a:ext cx="1038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45309"/>
                </a:solidFill>
                <a:latin typeface="Inter"/>
              </a:rPr>
              <a:t>PARAGRAF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2247900"/>
            <a:ext cx="597574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78350F"/>
                </a:solidFill>
                <a:latin typeface="Space Grotesk"/>
              </a:rPr>
              <a:t>Kondisi Empiris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2695575"/>
            <a:ext cx="46482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2400E"/>
                </a:solidFill>
                <a:latin typeface="Inter"/>
              </a:rPr>
              <a:t>Menyajikan fakta, data awal, atau hasil observasi di lapangan.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486150"/>
            <a:ext cx="5691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45309"/>
                </a:solidFill>
                <a:latin typeface="Inter"/>
              </a:rPr>
              <a:t>CONTOH PENERAPAN: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752850"/>
            <a:ext cx="4648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8350F"/>
                </a:solidFill>
                <a:latin typeface="Inter"/>
              </a:rPr>
              <a:t>Tulungagung memiliki potensi JLS. Namun faktanya, mayoritas pelaku UMKM masih tradisional dan gagap ekosistem digital.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1847850"/>
            <a:ext cx="104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91C1C"/>
                </a:solidFill>
                <a:latin typeface="Inter"/>
              </a:rPr>
              <a:t>PARAGRAF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2247900"/>
            <a:ext cx="56292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7F1D1D"/>
                </a:solidFill>
                <a:latin typeface="Space Grotesk"/>
              </a:rPr>
              <a:t>Permasalahan Utama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2695575"/>
            <a:ext cx="46482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91B1B"/>
                </a:solidFill>
                <a:latin typeface="Inter"/>
              </a:rPr>
              <a:t>Benturan antara kondisi ideal (P2) dan realita empiris (P3).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486150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91C1C"/>
                </a:solidFill>
                <a:latin typeface="Inter"/>
              </a:rPr>
              <a:t>CONTOH PENERAPAN: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752850"/>
            <a:ext cx="4648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F1D1D"/>
                </a:solidFill>
                <a:latin typeface="Inter"/>
              </a:rPr>
              <a:t>Tuntutan digitalisasi tinggi berbenturan dengan literasi rendah. Akibatnya, UMKM sangat rentan mengalami kebangkrutan saat krisis.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590675"/>
            <a:ext cx="1247775" cy="3048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471862"/>
            <a:ext cx="5219700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371850"/>
            <a:ext cx="5219700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786187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686175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1647825"/>
            <a:ext cx="1038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PARAGRAF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047875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Faktor Penentu (Variabel 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686050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Mengenalkan faktor-faktor yang diduga kuat memengaruhi masalah.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243387"/>
            <a:ext cx="602575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Variabel X1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652962"/>
            <a:ext cx="5738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Kesiapan adopsi teknologi cerdas (</a:t>
            </a:r>
            <a:r>
              <a:rPr b="0" sz="1350" i="1" u="none">
                <a:solidFill>
                  <a:srgbClr val="475569"/>
                </a:solidFill>
                <a:latin typeface="Inter"/>
              </a:rPr>
              <a:t>AI Readiness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4143375"/>
            <a:ext cx="56673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Variabel X2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552950"/>
            <a:ext cx="4686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Literasi tata kelola keuangan digital (</a:t>
            </a:r>
            <a:r>
              <a:rPr b="0" sz="1350" i="1" u="none">
                <a:solidFill>
                  <a:srgbClr val="475569"/>
                </a:solidFill>
                <a:latin typeface="Inter"/>
              </a:rPr>
              <a:t>Digital Financial Literacy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76375"/>
            <a:ext cx="5181600" cy="4772025"/>
          </a:xfrm>
          <a:prstGeom prst="roundRect">
            <a:avLst>
              <a:gd name="adj" fmla="val 31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76375"/>
            <a:ext cx="5181600" cy="4772025"/>
          </a:xfrm>
          <a:prstGeom prst="roundRect">
            <a:avLst>
              <a:gd name="adj" fmla="val 319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6325" y="1790700"/>
            <a:ext cx="1247775" cy="3048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6325" y="3248025"/>
            <a:ext cx="45529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62725" y="1790700"/>
            <a:ext cx="1238250" cy="3048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62725" y="3248025"/>
            <a:ext cx="4552950" cy="9525"/>
          </a:xfrm>
          <a:prstGeom prst="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Terdahulu vs Kebaharuan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5" y="1847850"/>
            <a:ext cx="1038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PARAGRAF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2247900"/>
            <a:ext cx="597574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Penelitian Terdahulu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2695575"/>
            <a:ext cx="46482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Sintesis temuan dari peneliti sebelumnya terkait topik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486150"/>
            <a:ext cx="5691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CONTOH PENERAPAN: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752850"/>
            <a:ext cx="4648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Mayoritas literatur terdahulu sebatas membahas adopsi e-commerce dasar dan pencatatan kas manual.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1847850"/>
            <a:ext cx="1028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Inter"/>
              </a:rPr>
              <a:t>PARAGRAF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2247900"/>
            <a:ext cx="56292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4532D"/>
                </a:solidFill>
                <a:latin typeface="Space Grotesk"/>
              </a:rPr>
              <a:t>Research Gap (Novelty)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2695575"/>
            <a:ext cx="46482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66534"/>
                </a:solidFill>
                <a:latin typeface="Inter"/>
              </a:rPr>
              <a:t>Ruang kosong yang belum dijawab oleh penelitian sebelumnya.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486150"/>
            <a:ext cx="5629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Inter"/>
              </a:rPr>
              <a:t>CONTOH PENERAPAN: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752850"/>
            <a:ext cx="4648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4532D"/>
                </a:solidFill>
                <a:latin typeface="Inter"/>
              </a:rPr>
              <a:t>Belum ada integrasi variabel </a:t>
            </a:r>
            <a:r>
              <a:rPr b="0" sz="1350" i="1" u="none">
                <a:solidFill>
                  <a:srgbClr val="14532D"/>
                </a:solidFill>
                <a:latin typeface="Inter"/>
              </a:rPr>
              <a:t>AI Readiness</a:t>
            </a:r>
            <a:r>
              <a:rPr b="0" sz="1350" i="0" u="none">
                <a:solidFill>
                  <a:srgbClr val="14532D"/>
                </a:solidFill>
                <a:latin typeface="Inter"/>
              </a:rPr>
              <a:t> spesifik pada ketahanan UMKM di wilayah semi-urban (Tulungagung).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72112" y="1857375"/>
            <a:ext cx="1247775" cy="3048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66900" y="4305300"/>
            <a:ext cx="2190750" cy="695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95800" y="4305300"/>
            <a:ext cx="2228850" cy="695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62800" y="4305300"/>
            <a:ext cx="3162300" cy="695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66900" y="4305300"/>
            <a:ext cx="219075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95800" y="4305300"/>
            <a:ext cx="222885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62800" y="4305300"/>
            <a:ext cx="31623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050" y="4576762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050" y="4576762"/>
            <a:ext cx="1333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8540" y="1914525"/>
            <a:ext cx="125491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Inter"/>
              </a:rPr>
              <a:t>PARAGRAF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8170" y="2390775"/>
            <a:ext cx="5275659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Urgensi Penelitian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3352800"/>
            <a:ext cx="9525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64748B"/>
                </a:solidFill>
                <a:latin typeface="Inter"/>
              </a:rPr>
              <a:t>Alasan kuat mengapa masalah ini </a:t>
            </a:r>
            <a:r>
              <a:rPr b="1" sz="1650" i="0" u="none">
                <a:solidFill>
                  <a:srgbClr val="64748B"/>
                </a:solidFill>
                <a:latin typeface="Inter"/>
              </a:rPr>
              <a:t>harus segera diteliti</a:t>
            </a:r>
            <a:r>
              <a:rPr b="0" sz="1650" i="0" u="none">
                <a:solidFill>
                  <a:srgbClr val="64748B"/>
                </a:solidFill>
                <a:latin typeface="Inter"/>
              </a:rPr>
              <a:t> dan dampaknya jika dibiarkan.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8806" y="4572000"/>
            <a:ext cx="2166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Inter"/>
              </a:rPr>
              <a:t>Mencegah Stagnansi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2943" y="4572000"/>
            <a:ext cx="2214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Inter"/>
              </a:rPr>
              <a:t>Merumuskan Strategi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3262" y="4572000"/>
            <a:ext cx="3381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Inter"/>
              </a:rPr>
              <a:t>Menyelamatkan Ekonomi Daerah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72112" y="1215479"/>
            <a:ext cx="1247775" cy="3048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33500" y="4339679"/>
            <a:ext cx="9525000" cy="1302841"/>
          </a:xfrm>
          <a:prstGeom prst="roundRect">
            <a:avLst>
              <a:gd name="adj" fmla="val 11697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510879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68540" y="1272629"/>
            <a:ext cx="125491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Inter"/>
              </a:rPr>
              <a:t>PARAGRAF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1907" y="1748879"/>
            <a:ext cx="548818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64748B"/>
                </a:solidFill>
                <a:latin typeface="Space Grotesk"/>
              </a:rPr>
              <a:t>Arah Penelitian (Penegasan)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8187" y="3196679"/>
            <a:ext cx="107156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"Berdasarkan urgensi kesenjangan di atas, peneliti bermaksud mengkaji rumusan strategi tersebut melalui skripsi yang berjudul:"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293" y="4644479"/>
            <a:ext cx="11301412" cy="693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b="1" sz="1950" i="0" u="none">
                <a:solidFill>
                  <a:srgbClr val="FFFFFF"/>
                </a:solidFill>
                <a:latin typeface="Space Grotesk"/>
              </a:rPr>
              <a:t>Pengaruh AI Readiness dan Digital Financial Literacy terhadap Business Resilience pada Pelaku UMKM di Kabupaten Tulungagung.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848225"/>
            <a:ext cx="4572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8120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152650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7914" y="2895600"/>
            <a:ext cx="937617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Struktur Latar Belakang Selesai!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705225"/>
            <a:ext cx="7143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Gunakan panduan 9 paragraf ini sebagai kerangka utama. Pastikan kalimat penghubung antar paragraf terajut dengan logis.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33500"/>
            <a:ext cx="4572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90500"/>
            <a:ext cx="5810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Pastikan setiap transisi antar paragraf memiliki jembatan kalimat (bridging) yang halus agar logika argumentasi tetap terjaga.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42987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478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09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https://media.istockphoto.com/id/2231370411/photo/futuristic-digital-neural-network-technology-background.jpg?s=612x612&amp;w=0&amp;k=20&amp;c=je4wC0OxVAWPNxtdBGv-GLKU6qecb-dStBBXlvP-MvY=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362075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90712"/>
            <a:ext cx="7048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https://pageloot.com/wp-content/uploads/2026/04/cafe-qr-scan-dc3e86-77b4955a2cda.webp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90737"/>
            <a:ext cx="2000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pageloot.com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