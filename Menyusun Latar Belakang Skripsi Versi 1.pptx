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</ns0:sldIdLst>
  <ns0:sldSz cx="12192000" cy="6858000" type="screen4x3"/>
  <ns0:notesSz cx="6858000" cy="9144000"/>
  <ns0:embeddedFontLst>
    <ns0:embeddedFont>
      <ns0:font typeface="Inter"/>
      <ns0:bold ns1:id="rIdFont16"/>
      <ns0:italic ns1:id="rIdFont17"/>
      <ns0:regular ns1:id="rIdFont18"/>
    </ns0:embeddedFont>
    <ns0:embeddedFont>
      <ns0:font typeface="Space Grotesk"/>
      <ns0:bold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Font16" Type="http://schemas.openxmlformats.org/officeDocument/2006/relationships/font" Target="fonts/1115e12b-2d8c-4c65-a504-d15183f40066.fntdata" /><ns0:Relationship Id="rIdFont17" Type="http://schemas.openxmlformats.org/officeDocument/2006/relationships/font" Target="fonts/c7b4a223-75a3-4070-a398-a2339253e6e4.fntdata" /><ns0:Relationship Id="rIdFont18" Type="http://schemas.openxmlformats.org/officeDocument/2006/relationships/font" Target="fonts/65f64951-75dc-45f1-a4ba-1ae296155268.fntdata" /><ns0:Relationship Id="rIdFont19" Type="http://schemas.openxmlformats.org/officeDocument/2006/relationships/font" Target="fonts/b222ce13-8e7b-4fb4-aa4b-315b1faa80a9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1494532"/>
            <a:ext cx="762000" cy="76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4106167"/>
            <a:ext cx="7620000" cy="1257300"/>
          </a:xfrm>
          <a:prstGeom prst="rect">
            <a:avLst/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4106167"/>
            <a:ext cx="38100" cy="1257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875532"/>
            <a:ext cx="9101137" cy="117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b="1" sz="4200" i="0" u="none">
                <a:solidFill>
                  <a:srgbClr val="F8FAFC"/>
                </a:solidFill>
                <a:latin typeface="Space Grotesk"/>
              </a:rPr>
              <a:t>Konstruksi Latar Belakang Skripsi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277492"/>
            <a:ext cx="114300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94A3B8"/>
                </a:solidFill>
                <a:latin typeface="Inter"/>
              </a:rPr>
              <a:t>Strategi Merumuskan Gap, Novelty, &amp; Kebaharuan Penelitian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4334767"/>
            <a:ext cx="8905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4A3B8"/>
                </a:solidFill>
                <a:latin typeface="Inter"/>
              </a:rPr>
              <a:t>STUDI KASUS JUDUL: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4601467"/>
            <a:ext cx="72199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F8FAFC"/>
                </a:solidFill>
                <a:latin typeface="Inter"/>
              </a:rPr>
              <a:t>"Pengaruh AI Readiness dan Digital Financial Literacy terhadap Business Resilience pada Pelaku UMKM di Kabupaten Tulungagung"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933575"/>
            <a:ext cx="10668000" cy="752475"/>
          </a:xfrm>
          <a:prstGeom prst="roundRect">
            <a:avLst>
              <a:gd name="adj" fmla="val 15189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562100" y="2838450"/>
            <a:ext cx="9067800" cy="752475"/>
          </a:xfrm>
          <a:prstGeom prst="roundRect">
            <a:avLst>
              <a:gd name="adj" fmla="val 15189"/>
            </a:avLst>
          </a:prstGeom>
          <a:solidFill>
            <a:srgbClr val="C7D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362200" y="3743325"/>
            <a:ext cx="7467600" cy="752475"/>
          </a:xfrm>
          <a:prstGeom prst="roundRect">
            <a:avLst>
              <a:gd name="adj" fmla="val 15189"/>
            </a:avLst>
          </a:prstGeom>
          <a:solidFill>
            <a:srgbClr val="A5B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62300" y="4648200"/>
            <a:ext cx="5867400" cy="752475"/>
          </a:xfrm>
          <a:prstGeom prst="roundRect">
            <a:avLst>
              <a:gd name="adj" fmla="val 15189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6096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Anatomi </a:t>
            </a:r>
            <a:r>
              <a:rPr b="1" sz="3000" i="0" u="none">
                <a:solidFill>
                  <a:srgbClr val="2563EB"/>
                </a:solidFill>
                <a:latin typeface="Space Grotesk"/>
              </a:rPr>
              <a:t>Piramida Terbalik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247775"/>
            <a:ext cx="1143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Inter"/>
              </a:rPr>
              <a:t>Alur logika deduktif dari isu global menuju fokus penelitian spesifik.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2162175"/>
            <a:ext cx="3350418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730A3"/>
                </a:solidFill>
                <a:latin typeface="Space Grotesk"/>
              </a:rPr>
              <a:t>1. Kondisi Ideal (Makro)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24900" y="2209800"/>
            <a:ext cx="3000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730A3"/>
                </a:solidFill>
                <a:latin typeface="Inter"/>
              </a:rPr>
              <a:t>Tuntutan Zaman &amp; Variabel 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66900" y="3067050"/>
            <a:ext cx="3637954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12E81"/>
                </a:solidFill>
                <a:latin typeface="Space Grotesk"/>
              </a:rPr>
              <a:t>2. Kondisi Faktual (Lokal)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10450" y="3114675"/>
            <a:ext cx="3643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12E81"/>
                </a:solidFill>
                <a:latin typeface="Inter"/>
              </a:rPr>
              <a:t>Fenomena di Lokasi (Tulungagung)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7000" y="3971925"/>
            <a:ext cx="233779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1B4B"/>
                </a:solidFill>
                <a:latin typeface="Space Grotesk"/>
              </a:rPr>
              <a:t>3. Research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77050" y="4019550"/>
            <a:ext cx="3309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1B4B"/>
                </a:solidFill>
                <a:latin typeface="Inter"/>
              </a:rPr>
              <a:t>Kesenjangan Harapan vs Realita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7100" y="4876800"/>
            <a:ext cx="1470183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Space Grotesk"/>
              </a:rPr>
              <a:t>4. Novelty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7525" y="4924425"/>
            <a:ext cx="23217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Inter"/>
              </a:rPr>
              <a:t>Kebaharuan Penelitian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179314"/>
            <a:ext cx="1219200" cy="3048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3640335"/>
            <a:ext cx="5486400" cy="203835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5669160"/>
            <a:ext cx="5486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3640335"/>
            <a:ext cx="5486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3640335"/>
            <a:ext cx="57150" cy="20383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38875" y="3640335"/>
            <a:ext cx="9525" cy="20383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721173"/>
            <a:ext cx="15240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045023"/>
            <a:ext cx="152400" cy="1809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1236464"/>
            <a:ext cx="10096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Inter"/>
              </a:rPr>
              <a:t>PARAGRAF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1636514"/>
            <a:ext cx="5860732" cy="8227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Kondisi Ideal &amp; </a:t>
            </a:r>
            <a:r>
              <a:t>
</a:t>
            </a:r>
            <a:r>
              <a:rPr b="1" sz="2700" i="0" u="none">
                <a:solidFill>
                  <a:srgbClr val="0F172A"/>
                </a:solidFill>
                <a:latin typeface="Space Grotesk"/>
              </a:rPr>
              <a:t> Latar Belakang Makro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2687835"/>
            <a:ext cx="65913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Tujuan: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Menjelaskan urgensi isu secara umum.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" y="3011685"/>
            <a:ext cx="65913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Fokus: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Transformasi digital &amp; ketahanan UMKM.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750" y="3878460"/>
            <a:ext cx="651331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Space Grotesk"/>
              </a:rPr>
              <a:t>CONTOH DRAF KALIMAT: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" y="4154685"/>
            <a:ext cx="5057775" cy="1285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0F172A"/>
                </a:solidFill>
                <a:latin typeface="Inter"/>
              </a:rPr>
              <a:t>"Di era ekonomi digital, ketahanan bisnis (Business Resilience) menjadi indikator krusial bagi UMKM. Kemampuan adaptasi teknologi dan literasi finansial digital bukan lagi pilihan, melainkan prasyarat utama untuk bertahan dari disrupsi pasar."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609600"/>
            <a:ext cx="1247775" cy="3048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228850"/>
            <a:ext cx="4259609" cy="4019550"/>
          </a:xfrm>
          <a:prstGeom prst="roundRect">
            <a:avLst>
              <a:gd name="adj" fmla="val 37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26409" y="2228850"/>
            <a:ext cx="6103590" cy="4019550"/>
          </a:xfrm>
          <a:prstGeom prst="roundRect">
            <a:avLst>
              <a:gd name="adj" fmla="val 3791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533650"/>
            <a:ext cx="2286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666750"/>
            <a:ext cx="10382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Inter"/>
              </a:rPr>
              <a:t>PARAGRAF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66800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Kondisi Faktual &amp; Fenomena Lokus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619250"/>
            <a:ext cx="1143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Inter"/>
              </a:rPr>
              <a:t>Bawa pembahasan ke lokasi penelitian (Tulungagung) dan sertakan data awal.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3067050"/>
            <a:ext cx="479063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Data yang Dibutuhkan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40734" y="2543175"/>
            <a:ext cx="655126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B45309"/>
                </a:solidFill>
                <a:latin typeface="Inter"/>
              </a:rPr>
              <a:t>CONTOH DRAF KALIMAT: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0734" y="2847975"/>
            <a:ext cx="557019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78350F"/>
                </a:solidFill>
                <a:latin typeface="Inter"/>
              </a:rPr>
              <a:t>"Kabupaten Tulungagung memiliki potensi pasar besar seiring pembangunan JLS dan Tol Kediri-Tulungagung. Namun, pra-observasi menunjukkan mayoritas pelaku UMKM lokal belum mengoptimalkan ekosistem digital dan masih rendah dalam literasi finansial lanjutan, sehingga rentan terhadap guncangan ekonomi."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3485197"/>
            <a:ext cx="952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7300" y="3486150"/>
            <a:ext cx="4324387" cy="27429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Potensi ekonomi spesifik daerah.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2050" y="3835687"/>
            <a:ext cx="952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7300" y="3836640"/>
            <a:ext cx="4324387" cy="27429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Hasil pra-observasi pelaku UMKM.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4186177"/>
            <a:ext cx="952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7300" y="4187130"/>
            <a:ext cx="4324387" cy="27429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Statistik kesiapan digital lokal.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838700"/>
            <a:ext cx="10668000" cy="1409700"/>
          </a:xfrm>
          <a:prstGeom prst="roundRect">
            <a:avLst>
              <a:gd name="adj" fmla="val 8108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009775"/>
            <a:ext cx="4972050" cy="2524125"/>
          </a:xfrm>
          <a:prstGeom prst="roundRect">
            <a:avLst>
              <a:gd name="adj" fmla="val 60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57950" y="2009775"/>
            <a:ext cx="4972050" cy="2524125"/>
          </a:xfrm>
          <a:prstGeom prst="roundRect">
            <a:avLst>
              <a:gd name="adj" fmla="val 60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4838700"/>
            <a:ext cx="57150" cy="1409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2000" y="609600"/>
            <a:ext cx="1247775" cy="3048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650" y="3119437"/>
            <a:ext cx="2667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24750" y="1095375"/>
            <a:ext cx="3905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1500" i="0" u="none">
                <a:solidFill>
                  <a:srgbClr val="64748B"/>
                </a:solidFill>
                <a:latin typeface="Inter"/>
              </a:rPr>
              <a:t>Benturan antara Kondisi Ideal (P1) dan Kondisi Aktual (P2).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" y="5067300"/>
            <a:ext cx="110680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3A8A"/>
                </a:solidFill>
                <a:latin typeface="Inter"/>
              </a:rPr>
              <a:t>PERNYATAAN GAP: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50" y="5334000"/>
            <a:ext cx="100965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40AF"/>
                </a:solidFill>
                <a:latin typeface="Inter"/>
              </a:rPr>
              <a:t>"Kesenjangan terjadi: di saat infrastruktur digital nasional berkembang pesat, tingkat </a:t>
            </a:r>
            <a:r>
              <a:rPr b="0" sz="1500" i="1" u="none">
                <a:solidFill>
                  <a:srgbClr val="1E40AF"/>
                </a:solidFill>
                <a:latin typeface="Inter"/>
              </a:rPr>
              <a:t>AI Readiness</a:t>
            </a:r>
            <a:r>
              <a:rPr b="0" sz="1500" i="0" u="none">
                <a:solidFill>
                  <a:srgbClr val="1E40AF"/>
                </a:solidFill>
                <a:latin typeface="Inter"/>
              </a:rPr>
              <a:t> (kesiapan adopsi AI) pada UMKM masih sangat tertinggal (nasional 26%), menghambat pencapaian </a:t>
            </a:r>
            <a:r>
              <a:rPr b="0" sz="1500" i="1" u="none">
                <a:solidFill>
                  <a:srgbClr val="1E40AF"/>
                </a:solidFill>
                <a:latin typeface="Inter"/>
              </a:rPr>
              <a:t>Business Resilience</a:t>
            </a:r>
            <a:r>
              <a:rPr b="0" sz="1500" i="0" u="none">
                <a:solidFill>
                  <a:srgbClr val="1E40AF"/>
                </a:solidFill>
                <a:latin typeface="Inter"/>
              </a:rPr>
              <a:t>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66750"/>
            <a:ext cx="10382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Inter"/>
              </a:rPr>
              <a:t>PARAGRAF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066800"/>
            <a:ext cx="328791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Research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2324100"/>
            <a:ext cx="5429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64748B"/>
                </a:solidFill>
                <a:latin typeface="Inter"/>
              </a:rPr>
              <a:t>HARAPAN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668" y="2667000"/>
            <a:ext cx="570071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Space Grotesk"/>
              </a:rPr>
              <a:t>Digitalisasi Agresif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3114675"/>
            <a:ext cx="5429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UMKM butuh adopsi teknologi tinggi untuk resiliensi.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9350" y="2324100"/>
            <a:ext cx="5429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64748B"/>
                </a:solidFill>
                <a:latin typeface="Inter"/>
              </a:rPr>
              <a:t>REALITA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3618" y="2667000"/>
            <a:ext cx="570071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Space Grotesk"/>
              </a:rPr>
              <a:t>Adopsi Terbatas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9350" y="3114675"/>
            <a:ext cx="5429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Infrastruktur tersedia, namun kesiapan pelaku minim.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987676" y="0"/>
            <a:ext cx="7204323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597276" y="1226939"/>
            <a:ext cx="1257300" cy="3048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597276" y="2811660"/>
            <a:ext cx="5985123" cy="1095375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97276" y="4135635"/>
            <a:ext cx="5985123" cy="1495425"/>
          </a:xfrm>
          <a:prstGeom prst="roundRect">
            <a:avLst>
              <a:gd name="adj" fmla="val 7643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97276" y="2811660"/>
            <a:ext cx="38100" cy="109537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97276" y="4135635"/>
            <a:ext cx="38100" cy="14954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87676" cy="6858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987676" cy="685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49676" y="1284089"/>
            <a:ext cx="1047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Inter"/>
              </a:rPr>
              <a:t>PARAGRAF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7276" y="1684139"/>
            <a:ext cx="6384391" cy="8227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Space Grotesk"/>
              </a:rPr>
              <a:t>State of the Art &amp; Novelty (Kebaharuan)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3976" y="3040260"/>
            <a:ext cx="632802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Inter"/>
              </a:rPr>
              <a:t>PENELITIAN TERDAHULU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3976" y="3278385"/>
            <a:ext cx="558507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Inter"/>
              </a:rPr>
              <a:t>Fokus pada adopsi e-commerce dan literasi keuangan dasar (cashflow).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3976" y="4364235"/>
            <a:ext cx="632802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5309"/>
                </a:solidFill>
                <a:latin typeface="Inter"/>
              </a:rPr>
              <a:t>KEBAHARUAN PENELITIAN INI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63976" y="4602360"/>
            <a:ext cx="5585073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78350F"/>
                </a:solidFill>
                <a:latin typeface="Inter"/>
              </a:rPr>
              <a:t>"Penelitian ini menghadirkan kebaharuan dengan mengintegrasikan variabel </a:t>
            </a:r>
            <a:r>
              <a:rPr b="1" sz="1350" i="0" u="none">
                <a:solidFill>
                  <a:srgbClr val="78350F"/>
                </a:solidFill>
                <a:latin typeface="Inter"/>
              </a:rPr>
              <a:t>AI Readiness</a:t>
            </a:r>
            <a:r>
              <a:rPr b="0" sz="1350" i="0" u="none">
                <a:solidFill>
                  <a:srgbClr val="78350F"/>
                </a:solidFill>
                <a:latin typeface="Inter"/>
              </a:rPr>
              <a:t> (kesiapan kecerdasan buatan) sebagai dimensi baru dari </a:t>
            </a:r>
            <a:r>
              <a:rPr b="1" sz="1350" i="0" u="none">
                <a:solidFill>
                  <a:srgbClr val="78350F"/>
                </a:solidFill>
                <a:latin typeface="Inter"/>
              </a:rPr>
              <a:t>Digital Financial Literacy</a:t>
            </a:r>
            <a:r>
              <a:rPr b="0" sz="1350" i="0" u="none">
                <a:solidFill>
                  <a:srgbClr val="78350F"/>
                </a:solidFill>
                <a:latin typeface="Inter"/>
              </a:rPr>
              <a:t> pada konteks lokal Tulungagung."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72112" y="958304"/>
            <a:ext cx="1247775" cy="3048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33500" y="4596854"/>
            <a:ext cx="9525000" cy="1302841"/>
          </a:xfrm>
          <a:prstGeom prst="roundRect">
            <a:avLst>
              <a:gd name="adj" fmla="val 11697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212" y="2253704"/>
            <a:ext cx="409575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68540" y="1015454"/>
            <a:ext cx="1254918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75569"/>
                </a:solidFill>
                <a:latin typeface="Inter"/>
              </a:rPr>
              <a:t>PARAGRAF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89249" y="1491704"/>
            <a:ext cx="8013501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64748B"/>
                </a:solidFill>
                <a:latin typeface="Space Grotesk"/>
              </a:rPr>
              <a:t>Penarikan Kesimpulan (Penegasan Judul)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8187" y="2939504"/>
            <a:ext cx="10715625" cy="1200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"Berdasarkan fenomena, kesenjangan masalah, dan urgensi di atas, maka peneliti tertarik untuk mengkaji lebih dalam melalui penelitian yang berjudul:"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5293" y="4901654"/>
            <a:ext cx="11301412" cy="6932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b="1" sz="1950" i="0" u="none">
                <a:solidFill>
                  <a:srgbClr val="FFFFFF"/>
                </a:solidFill>
                <a:latin typeface="Space Grotesk"/>
              </a:rPr>
              <a:t>Pengaruh AI Readiness dan Digital Financial Literacy terhadap Business Resilience pada Pelaku UMKM di Kabupaten Tulungagung.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67400" y="4848225"/>
            <a:ext cx="457200" cy="285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981200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0" y="2152650"/>
            <a:ext cx="26670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26891" y="2895600"/>
            <a:ext cx="5738217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Space Grotesk"/>
              </a:rPr>
              <a:t>Siap Menulis Bab 1?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3705225"/>
            <a:ext cx="71437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Pastikan setiap transisi antar paragraf memiliki jembatan kalimat (bridging) yang halus agar logika argumentasi tetap terjaga.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66775"/>
            <a:ext cx="110490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95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95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42987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4785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50268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09650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https://media.istockphoto.com/id/2231370411/photo/futuristic-digital-neural-network-technology-background.jpg?s=612x612&amp;w=0&amp;k=20&amp;c=je4wC0OxVAWPNxtdBGv-GLKU6qecb-dStBBXlvP-MvY=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362075"/>
            <a:ext cx="27741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www.istockphoto.com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90712"/>
            <a:ext cx="7048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https://pageloot.com/wp-content/uploads/2026/04/cafe-qr-scan-dc3e86-77b4955a2cda.webp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90737"/>
            <a:ext cx="2000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pageloot.com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